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notesMasterIdLst>
    <p:notesMasterId r:id="rId16"/>
  </p:notes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1466C-E689-4C50-B043-43C816FDE29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44706-837C-4266-B150-1650A938DCC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49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44706-837C-4266-B150-1650A938DCC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01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25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45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78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65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58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739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45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2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46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9683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47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3735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618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9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6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05DB3-53C6-4905-B45A-5D8DEA6B3707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A44A8EC-D352-4C59-9BE2-9AFC1F8A2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78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58537E-405A-363F-BBB7-9695FA9E2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990" y="398428"/>
            <a:ext cx="9328810" cy="1389275"/>
          </a:xfrm>
        </p:spPr>
        <p:txBody>
          <a:bodyPr>
            <a:noAutofit/>
          </a:bodyPr>
          <a:lstStyle/>
          <a:p>
            <a:r>
              <a:rPr lang="fr-FR" sz="4000" b="1" dirty="0"/>
              <a:t>Projet 7 : Concevez et déployez un système RAG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2E0B29-5CB1-623B-731C-3E2A0F247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2215" y="2856217"/>
            <a:ext cx="8915399" cy="2106201"/>
          </a:xfrm>
        </p:spPr>
        <p:txBody>
          <a:bodyPr>
            <a:normAutofit fontScale="77500" lnSpcReduction="20000"/>
          </a:bodyPr>
          <a:lstStyle/>
          <a:p>
            <a:r>
              <a:rPr lang="fr-FR" sz="2200" b="1" dirty="0">
                <a:latin typeface="+mj-lt"/>
              </a:rPr>
              <a:t>NDIAYE Birama</a:t>
            </a:r>
          </a:p>
          <a:p>
            <a:r>
              <a:rPr lang="fr-FR" sz="2200" dirty="0">
                <a:latin typeface="+mj-lt"/>
              </a:rPr>
              <a:t>12/08/2026</a:t>
            </a:r>
          </a:p>
          <a:p>
            <a:endParaRPr lang="fr-FR" sz="2200" dirty="0">
              <a:latin typeface="+mj-lt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fr-FR" altLang="fr-FR" sz="2200" dirty="0">
                <a:solidFill>
                  <a:schemeClr val="tx1"/>
                </a:solidFill>
                <a:latin typeface="+mj-lt"/>
              </a:rPr>
              <a:t>Système de recherche intelligente d'événements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fr-FR" altLang="fr-FR" sz="22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fr-FR" altLang="fr-FR" sz="2200" dirty="0">
                <a:solidFill>
                  <a:schemeClr val="tx1"/>
                </a:solidFill>
                <a:latin typeface="+mj-lt"/>
              </a:rPr>
              <a:t>Assistant RAG basé sur les données Open Agenda.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altLang="fr-FR" sz="22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fr-FR" altLang="fr-FR" sz="2200" dirty="0">
                <a:solidFill>
                  <a:schemeClr val="tx1"/>
                </a:solidFill>
                <a:latin typeface="+mj-lt"/>
              </a:rPr>
              <a:t>Technologies principales : Python · LangChain · FAISS · Mistral · FastAPI · Docker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37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B450B-898C-B8E4-E662-EDE13789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786" y="448319"/>
            <a:ext cx="8911687" cy="1173868"/>
          </a:xfrm>
        </p:spPr>
        <p:txBody>
          <a:bodyPr>
            <a:normAutofit fontScale="90000"/>
          </a:bodyPr>
          <a:lstStyle/>
          <a:p>
            <a:r>
              <a:rPr lang="fr-FR" sz="4000" b="1" dirty="0"/>
              <a:t>Contexte</a:t>
            </a:r>
            <a:r>
              <a:rPr lang="fr-FR" b="1" dirty="0"/>
              <a:t> et problématique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82314D-7847-4BA1-8C93-AB6F24AC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915" y="1379959"/>
            <a:ext cx="9840198" cy="47608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600" b="1" dirty="0"/>
              <a:t>Contexte</a:t>
            </a:r>
          </a:p>
          <a:p>
            <a:pPr marL="0" indent="0">
              <a:buNone/>
            </a:pPr>
            <a:r>
              <a:rPr lang="fr-FR" sz="1600" dirty="0"/>
              <a:t>Puls-Events souhaite intégrer un </a:t>
            </a:r>
            <a:r>
              <a:rPr lang="fr-FR" sz="1600" b="1" dirty="0"/>
              <a:t>chatbot intelligent</a:t>
            </a:r>
            <a:r>
              <a:rPr lang="fr-FR" sz="1600" dirty="0"/>
              <a:t> capable de répondre aux questions des utilisateurs sur les </a:t>
            </a:r>
            <a:r>
              <a:rPr lang="fr-FR" sz="1600" b="1" dirty="0"/>
              <a:t>événements culturels à venir</a:t>
            </a:r>
            <a:r>
              <a:rPr lang="fr-FR" sz="1600" dirty="0"/>
              <a:t>, à partir des données de l'</a:t>
            </a:r>
            <a:r>
              <a:rPr lang="fr-FR" sz="1600" b="1" dirty="0"/>
              <a:t>API Open Agenda</a:t>
            </a:r>
            <a:r>
              <a:rPr lang="fr-FR" sz="16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b="1" dirty="0"/>
              <a:t>Objectif du POC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Développer une </a:t>
            </a:r>
            <a:r>
              <a:rPr lang="fr-FR" sz="1600" b="1" dirty="0"/>
              <a:t>version fonctionnelle d'un système RAG</a:t>
            </a:r>
            <a:r>
              <a:rPr lang="fr-FR" sz="1600" dirty="0"/>
              <a:t> permettant de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rechercher les événements pertinents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générer une réponse en langage naturel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exposer le système via une </a:t>
            </a:r>
            <a:r>
              <a:rPr lang="fr-FR" b="1" dirty="0"/>
              <a:t>API REST</a:t>
            </a:r>
            <a:r>
              <a:rPr lang="fr-FR" dirty="0"/>
              <a:t>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démontrer son fonctionnement lors d'une </a:t>
            </a:r>
            <a:r>
              <a:rPr lang="fr-FR" b="1" dirty="0"/>
              <a:t>démo live</a:t>
            </a:r>
            <a:r>
              <a:rPr lang="fr-FR" dirty="0"/>
              <a:t>. </a:t>
            </a:r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600" b="1" dirty="0"/>
              <a:t>Périmètre</a:t>
            </a:r>
          </a:p>
          <a:p>
            <a:pPr marL="400050" lvl="1" indent="0">
              <a:buNone/>
            </a:pPr>
            <a:r>
              <a:rPr lang="fr-FR" dirty="0"/>
              <a:t>Zone étudiée : Métropole de Lyon</a:t>
            </a:r>
            <a:br>
              <a:rPr lang="fr-FR" dirty="0"/>
            </a:br>
            <a:r>
              <a:rPr lang="fr-FR" dirty="0"/>
              <a:t>Données : événements récents (&lt; 1 an)</a:t>
            </a:r>
          </a:p>
          <a:p>
            <a:pPr marL="0" indent="0">
              <a:buNone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93349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179FC7-21B5-1A8D-1DF9-0B7EBBC3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3702"/>
          </a:xfrm>
        </p:spPr>
        <p:txBody>
          <a:bodyPr/>
          <a:lstStyle/>
          <a:p>
            <a:r>
              <a:rPr lang="fr-FR" dirty="0"/>
              <a:t>Données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AA55DF-D780-925C-7B28-2EDE9ED3B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8292" y="1455575"/>
            <a:ext cx="9626507" cy="52679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000" b="1" dirty="0"/>
              <a:t>Source : Open Agenda (API)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Les données concernent les événements de la </a:t>
            </a:r>
            <a:r>
              <a:rPr lang="fr-FR" sz="2000" b="1" dirty="0"/>
              <a:t>Métropole de Lyon</a:t>
            </a:r>
            <a:r>
              <a:rPr lang="fr-FR" sz="2000" dirty="0"/>
              <a:t>.</a:t>
            </a:r>
          </a:p>
          <a:p>
            <a:pPr marL="0" indent="0">
              <a:buNone/>
            </a:pPr>
            <a:r>
              <a:rPr lang="fr-FR" sz="2000" dirty="0"/>
              <a:t>Les informations exploitées comprennent notamment :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Titre de l'événement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Description et description détaillée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Lieu et adresse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Date et horaires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000" dirty="0"/>
              <a:t>Identifiant de l'événement </a:t>
            </a:r>
          </a:p>
          <a:p>
            <a:pPr marL="457200" lvl="1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b="1" dirty="0"/>
              <a:t>Pré-</a:t>
            </a:r>
            <a:r>
              <a:rPr lang="fr-FR" sz="2000" b="1" dirty="0" err="1"/>
              <a:t>processing</a:t>
            </a:r>
            <a:r>
              <a:rPr lang="fr-FR" sz="2000" b="1" dirty="0"/>
              <a:t> :</a:t>
            </a:r>
          </a:p>
          <a:p>
            <a:pPr marL="0" indent="0">
              <a:buNone/>
            </a:pPr>
            <a:r>
              <a:rPr lang="fr-FR" sz="2000" dirty="0"/>
              <a:t>Open Agenda → Nettoyage → events.csv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b="1" dirty="0"/>
              <a:t>Objectif :</a:t>
            </a:r>
            <a:r>
              <a:rPr lang="fr-FR" sz="2000" dirty="0"/>
              <a:t> obtenir des données propres et structurées avant leur utilisation par le système RAG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20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C152A-4602-7EA2-397C-6AF9E2FC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technique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C996DB-036E-BD72-5A88-037C1471E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85" y="5212486"/>
            <a:ext cx="8915400" cy="944774"/>
          </a:xfrm>
        </p:spPr>
        <p:txBody>
          <a:bodyPr/>
          <a:lstStyle/>
          <a:p>
            <a:r>
              <a:rPr lang="fr-FR" dirty="0"/>
              <a:t>Le système combine une recherche sémantique avec FAISS et une génération de réponse avec Mistral, orchestrées par LangChain et exposées via FastAPI.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CA56A26-6CCF-038F-C827-310690CB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1571741"/>
            <a:ext cx="10951711" cy="338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5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A9A40-D9B4-7B32-EAD4-552372A9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Construction de la base vectorielle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C3E262-6459-674D-929F-FA30F4590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494" y="1459506"/>
            <a:ext cx="8915400" cy="51116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500" dirty="0"/>
              <a:t>Pour permettre une recherche par </a:t>
            </a:r>
            <a:r>
              <a:rPr lang="fr-FR" sz="1500" b="1" dirty="0"/>
              <a:t>sens</a:t>
            </a:r>
            <a:r>
              <a:rPr lang="fr-FR" sz="1500" dirty="0"/>
              <a:t> et non uniquement par mots-clés :</a:t>
            </a:r>
          </a:p>
          <a:p>
            <a:pPr marL="0" indent="0">
              <a:buNone/>
            </a:pPr>
            <a:endParaRPr lang="fr-FR" sz="15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Les événements sont transformés en documents LangChain.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Les documents sont découpés en </a:t>
            </a:r>
            <a:r>
              <a:rPr lang="fr-FR" sz="1500" dirty="0" err="1"/>
              <a:t>chunks</a:t>
            </a:r>
            <a:r>
              <a:rPr lang="fr-FR" sz="1500" dirty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Chaque </a:t>
            </a:r>
            <a:r>
              <a:rPr lang="fr-FR" sz="1500" dirty="0" err="1"/>
              <a:t>chunk</a:t>
            </a:r>
            <a:r>
              <a:rPr lang="fr-FR" sz="1500" dirty="0"/>
              <a:t> est transformé en </a:t>
            </a:r>
            <a:r>
              <a:rPr lang="fr-FR" sz="1500" b="1" dirty="0" err="1"/>
              <a:t>embedding</a:t>
            </a:r>
            <a:r>
              <a:rPr lang="fr-FR" sz="1500" dirty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Les embeddings sont indexés avec </a:t>
            </a:r>
            <a:r>
              <a:rPr lang="fr-FR" sz="1500" b="1" dirty="0"/>
              <a:t>FAISS</a:t>
            </a:r>
            <a:r>
              <a:rPr lang="fr-FR" sz="1500" dirty="0"/>
              <a:t>.</a:t>
            </a:r>
          </a:p>
          <a:p>
            <a:pPr marL="0" indent="0">
              <a:buNone/>
            </a:pPr>
            <a:endParaRPr lang="fr-FR" sz="1500" dirty="0"/>
          </a:p>
          <a:p>
            <a:pPr marL="0" indent="0">
              <a:buNone/>
            </a:pPr>
            <a:r>
              <a:rPr lang="fr-FR" sz="1500" b="1" dirty="0"/>
              <a:t>Modèle utilisé</a:t>
            </a:r>
          </a:p>
          <a:p>
            <a:pPr marL="0" indent="0">
              <a:buNone/>
            </a:pPr>
            <a:r>
              <a:rPr lang="fr-FR" sz="1500" dirty="0"/>
              <a:t>	sentence-</a:t>
            </a:r>
            <a:r>
              <a:rPr lang="fr-FR" sz="1500" dirty="0" err="1"/>
              <a:t>transformers</a:t>
            </a:r>
            <a:r>
              <a:rPr lang="fr-FR" sz="1500" dirty="0"/>
              <a:t>/all-MiniLM-L6-v2</a:t>
            </a:r>
          </a:p>
          <a:p>
            <a:pPr marL="0" indent="0">
              <a:buNone/>
            </a:pPr>
            <a:endParaRPr lang="fr-FR" sz="1500" dirty="0"/>
          </a:p>
          <a:p>
            <a:pPr marL="0" indent="0">
              <a:buNone/>
            </a:pPr>
            <a:r>
              <a:rPr lang="fr-FR" sz="1500" b="1" dirty="0"/>
              <a:t>Paramètres de découpage</a:t>
            </a:r>
          </a:p>
          <a:p>
            <a:pPr marL="457200" lvl="1" indent="0">
              <a:buNone/>
            </a:pPr>
            <a:r>
              <a:rPr lang="fr-FR" sz="1500" dirty="0" err="1"/>
              <a:t>chunk_size</a:t>
            </a:r>
            <a:r>
              <a:rPr lang="fr-FR" sz="1500" dirty="0"/>
              <a:t> = 1000 </a:t>
            </a:r>
          </a:p>
          <a:p>
            <a:pPr marL="457200" lvl="1" indent="0">
              <a:buNone/>
            </a:pPr>
            <a:r>
              <a:rPr lang="fr-FR" sz="1500" dirty="0" err="1"/>
              <a:t>chunk_overlap</a:t>
            </a:r>
            <a:r>
              <a:rPr lang="fr-FR" sz="1500" dirty="0"/>
              <a:t> = 200</a:t>
            </a:r>
          </a:p>
          <a:p>
            <a:pPr marL="457200" lvl="1" indent="0">
              <a:buNone/>
            </a:pPr>
            <a:endParaRPr lang="fr-FR" sz="1500" dirty="0"/>
          </a:p>
          <a:p>
            <a:pPr marL="0" indent="0">
              <a:buNone/>
            </a:pPr>
            <a:r>
              <a:rPr lang="fr-FR" sz="1500" b="1" dirty="0"/>
              <a:t>Résultat :</a:t>
            </a:r>
            <a:endParaRPr lang="fr-FR" sz="1500" dirty="0"/>
          </a:p>
          <a:p>
            <a:pPr marL="400050" lvl="1" indent="0">
              <a:buNone/>
            </a:pPr>
            <a:r>
              <a:rPr lang="fr-FR" sz="1500" dirty="0"/>
              <a:t>Une base vectorielle locale permettant de retrouver rapidement les événements sémantiquement proches d'une question.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201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917A54-531F-E09A-2803-7ECA11D3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du système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F66EE1-B07C-9A47-C0B5-62606914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742" y="1540188"/>
            <a:ext cx="9297988" cy="494129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L'utilisateur pose une question en langage naturel.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Le Retriever recherche les documents les plus pertinents dans FAISS.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Les documents récupérés constituent le contexte transmis au modèle.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LangChain orchestre les différentes étapes du pipeline RAG.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Mistral génère une réponse à partir du contexte récupéré.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Rôles des principales briques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fr-FR" b="1" dirty="0"/>
              <a:t>FAISS</a:t>
            </a:r>
            <a:br>
              <a:rPr lang="fr-FR" dirty="0"/>
            </a:br>
            <a:r>
              <a:rPr lang="fr-FR" dirty="0"/>
              <a:t>→ recherche les informations pertinentes.</a:t>
            </a:r>
          </a:p>
          <a:p>
            <a:r>
              <a:rPr lang="fr-FR" b="1" dirty="0"/>
              <a:t>LangChain</a:t>
            </a:r>
            <a:br>
              <a:rPr lang="fr-FR" dirty="0"/>
            </a:br>
            <a:r>
              <a:rPr lang="fr-FR" dirty="0"/>
              <a:t>→ orchestre le pipeline RAG.</a:t>
            </a:r>
          </a:p>
          <a:p>
            <a:r>
              <a:rPr lang="fr-FR" b="1" dirty="0"/>
              <a:t>Mistral</a:t>
            </a:r>
            <a:br>
              <a:rPr lang="fr-FR" dirty="0"/>
            </a:br>
            <a:r>
              <a:rPr lang="fr-FR" dirty="0"/>
              <a:t>→ génère la réponse à partir du contexte récupéré.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5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786F6-E476-6A45-1A33-7F2661F2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08E6EA-055A-EF94-E2E4-00D875B88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482" y="1540189"/>
            <a:ext cx="8915400" cy="3777622"/>
          </a:xfrm>
        </p:spPr>
        <p:txBody>
          <a:bodyPr/>
          <a:lstStyle/>
          <a:p>
            <a:r>
              <a:rPr lang="fr-FR" dirty="0"/>
              <a:t>Exposition du RAG avec FastAPI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B41185-DC6D-75E6-DC62-0B6C267A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82" y="2026138"/>
            <a:ext cx="8503641" cy="43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2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2E89D-E179-E1B2-34D0-71E43C35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et 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12844A-A879-B79D-0C6D-36FD125F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693" y="1389528"/>
            <a:ext cx="8360382" cy="5226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500" dirty="0"/>
              <a:t>Tests automatisés (CI/CD) </a:t>
            </a:r>
          </a:p>
          <a:p>
            <a:pPr marL="800100" lvl="2" indent="0">
              <a:buNone/>
            </a:pPr>
            <a:r>
              <a:rPr lang="fr-FR" b="1" dirty="0"/>
              <a:t>test_api.py</a:t>
            </a:r>
            <a:r>
              <a:rPr lang="fr-FR" dirty="0"/>
              <a:t> → validation de l'API. </a:t>
            </a:r>
          </a:p>
          <a:p>
            <a:pPr marL="800100" lvl="2" indent="0">
              <a:buNone/>
            </a:pPr>
            <a:r>
              <a:rPr lang="fr-FR" b="1" dirty="0"/>
              <a:t>test_rag.py</a:t>
            </a:r>
            <a:r>
              <a:rPr lang="fr-FR" dirty="0"/>
              <a:t> → validation du fonctionnement du RAG. </a:t>
            </a:r>
          </a:p>
          <a:p>
            <a:pPr marL="800100" lvl="2" indent="0">
              <a:buNone/>
            </a:pPr>
            <a:r>
              <a:rPr lang="fr-FR" b="1" dirty="0"/>
              <a:t>test_vectorstore.py</a:t>
            </a:r>
            <a:r>
              <a:rPr lang="fr-FR" dirty="0"/>
              <a:t> → validation de la base vectorielle.</a:t>
            </a:r>
          </a:p>
          <a:p>
            <a:pPr marL="400050" lvl="1" indent="0">
              <a:buNone/>
            </a:pPr>
            <a:endParaRPr lang="fr-FR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500" dirty="0"/>
              <a:t>Tests fonctionnels </a:t>
            </a:r>
            <a:endParaRPr lang="fr-FR" sz="1500" b="1" dirty="0"/>
          </a:p>
          <a:p>
            <a:pPr marL="0" indent="0">
              <a:buNone/>
            </a:pPr>
            <a:r>
              <a:rPr lang="fr-FR" sz="1500" b="1" dirty="0"/>
              <a:t>		scripts/evaluate_rag.py</a:t>
            </a:r>
            <a:endParaRPr lang="fr-FR" sz="1500" dirty="0"/>
          </a:p>
          <a:p>
            <a:pPr marL="0" indent="0">
              <a:buNone/>
            </a:pPr>
            <a:r>
              <a:rPr lang="fr-FR" sz="1500" dirty="0"/>
              <a:t>	Plusieurs questions réalistes sont exécutées de bout en bout afin de vérifier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la pertinence des documents récupérés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la qualité des réponses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500" dirty="0"/>
              <a:t>le comportement lorsqu'une information n'est pas présente dans la base.</a:t>
            </a:r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400" dirty="0"/>
              <a:t>Ragas </a:t>
            </a:r>
            <a:r>
              <a:rPr lang="fr-FR" sz="1400" dirty="0">
                <a:sym typeface="Wingdings" panose="05000000000000000000" pitchFamily="2" charset="2"/>
              </a:rPr>
              <a:t> </a:t>
            </a:r>
            <a:r>
              <a:rPr lang="fr-FR" sz="1400" dirty="0"/>
              <a:t>problèmes de compatibilités avec dépendances LangChain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CC1C18-CA7D-2E23-9824-737156B45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287" y="1667435"/>
            <a:ext cx="4493546" cy="12808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36ECE7E-F626-F93A-16B3-69706CD9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979" y="4637388"/>
            <a:ext cx="3225854" cy="15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0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50740-3C35-405C-A1FE-34679C14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Conteneurisation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BEE4BC-17CD-4AC4-AFE5-3FE8731E3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647" y="15401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700" dirty="0"/>
              <a:t>L'application a été conteneurisée afin de rendre son exécution </a:t>
            </a:r>
            <a:r>
              <a:rPr lang="fr-FR" sz="1700" b="1" dirty="0"/>
              <a:t>reproductible et indépendante de l'environnement local</a:t>
            </a:r>
            <a:r>
              <a:rPr lang="fr-FR" sz="1700" dirty="0"/>
              <a:t>.</a:t>
            </a:r>
          </a:p>
          <a:p>
            <a:pPr marL="0" indent="0">
              <a:buNone/>
            </a:pPr>
            <a:endParaRPr lang="fr-FR" sz="1700" b="1" dirty="0"/>
          </a:p>
          <a:p>
            <a:pPr marL="0" indent="0">
              <a:buNone/>
            </a:pPr>
            <a:r>
              <a:rPr lang="fr-FR" sz="1700" b="1" dirty="0"/>
              <a:t>Docker permet de regrouper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700" dirty="0"/>
              <a:t>Environnement Python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700" dirty="0"/>
              <a:t>Dépendances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700" dirty="0"/>
              <a:t>Code de l'application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700" dirty="0"/>
              <a:t>Configuration d'exécution</a:t>
            </a:r>
          </a:p>
          <a:p>
            <a:pPr marL="57150" indent="0">
              <a:buNone/>
            </a:pPr>
            <a:endParaRPr lang="fr-FR" sz="1700" dirty="0"/>
          </a:p>
          <a:p>
            <a:pPr marL="57150" indent="0">
              <a:buNone/>
            </a:pPr>
            <a:r>
              <a:rPr lang="fr-FR" sz="1700" dirty="0"/>
              <a:t>L'application a été testée avec succès depuis le conteneur via Swagger.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EABF5A-10B6-BFA2-9504-487149E0B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5460600"/>
            <a:ext cx="5835950" cy="10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0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CC093-8128-85FE-D13A-93550161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 et qualité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422332-2210-FF6C-9437-D199C38B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177" y="1558118"/>
            <a:ext cx="8915400" cy="477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 projet dispose également d'une CI GitHub Actions.</a:t>
            </a:r>
          </a:p>
          <a:p>
            <a:pPr marL="0" indent="0">
              <a:buNone/>
            </a:pPr>
            <a:r>
              <a:rPr lang="fr-FR" dirty="0"/>
              <a:t>À chaque modification, la CI permet de vérifier automatiquement le projet.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Objectifs</a:t>
            </a:r>
          </a:p>
          <a:p>
            <a:pPr marL="685800" lvl="1">
              <a:buFont typeface="Wingdings" panose="05000000000000000000" pitchFamily="2" charset="2"/>
              <a:buChar char="Ø"/>
            </a:pPr>
            <a:r>
              <a:rPr lang="fr-FR" sz="1800" dirty="0"/>
              <a:t>Détecter rapidement les régressions. </a:t>
            </a:r>
          </a:p>
          <a:p>
            <a:pPr marL="685800" lvl="1">
              <a:buFont typeface="Wingdings" panose="05000000000000000000" pitchFamily="2" charset="2"/>
              <a:buChar char="Ø"/>
            </a:pPr>
            <a:r>
              <a:rPr lang="fr-FR" sz="1800" dirty="0"/>
              <a:t>Vérifier que les tests passent. </a:t>
            </a:r>
          </a:p>
          <a:p>
            <a:pPr marL="685800" lvl="1">
              <a:buFont typeface="Wingdings" panose="05000000000000000000" pitchFamily="2" charset="2"/>
              <a:buChar char="Ø"/>
            </a:pPr>
            <a:r>
              <a:rPr lang="fr-FR" sz="1800" dirty="0"/>
              <a:t>Maintenir un environnement reproductible. </a:t>
            </a:r>
          </a:p>
          <a:p>
            <a:pPr marL="685800" lvl="1">
              <a:buFont typeface="Wingdings" panose="05000000000000000000" pitchFamily="2" charset="2"/>
              <a:buChar char="Ø"/>
            </a:pPr>
            <a:r>
              <a:rPr lang="fr-FR" sz="1800" dirty="0"/>
              <a:t>Sécuriser les évolutions du projet.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5EE957-595C-DF15-C207-E69E84A56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425" y="2646450"/>
            <a:ext cx="4311988" cy="193841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400370-AC14-1DAA-79AB-8FEFBD56E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425" y="4701987"/>
            <a:ext cx="4154188" cy="175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8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1EA7C-95FD-0122-0674-5F5CF70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3B13B0-F764-F930-44E2-3BC17AA1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330" y="1622610"/>
            <a:ext cx="7547745" cy="333039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Scénario 1</a:t>
            </a:r>
          </a:p>
          <a:p>
            <a:pPr marL="400050" lvl="1" indent="0">
              <a:buNone/>
            </a:pPr>
            <a:r>
              <a:rPr lang="fr-FR" dirty="0"/>
              <a:t>« Je cherche une exposition à Lyon. 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Scénario 2</a:t>
            </a:r>
          </a:p>
          <a:p>
            <a:pPr marL="400050" lvl="1" indent="0">
              <a:buNone/>
            </a:pPr>
            <a:r>
              <a:rPr lang="fr-FR" dirty="0"/>
              <a:t>« Quels événements liés au patrimoine ont lieu à Villeurbanne ? 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Scénario 3</a:t>
            </a:r>
          </a:p>
          <a:p>
            <a:pPr marL="400050" lvl="1" indent="0">
              <a:buNone/>
            </a:pPr>
            <a:r>
              <a:rPr lang="fr-FR" dirty="0"/>
              <a:t>« Je cherche une activité pour les enfants. 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024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102D0-0D8A-888B-3FE0-1B9B6626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du RAG avec </a:t>
            </a:r>
            <a:r>
              <a:rPr lang="fr-FR" dirty="0" err="1"/>
              <a:t>DeepEval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BBCF55-F029-72CD-95E5-974ECA9A2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482" y="1540189"/>
            <a:ext cx="10798138" cy="5055820"/>
          </a:xfrm>
        </p:spPr>
        <p:txBody>
          <a:bodyPr/>
          <a:lstStyle/>
          <a:p>
            <a:r>
              <a:rPr lang="fr-FR" dirty="0"/>
              <a:t>Évaluer automatiquement la qualité des réponses du système RAG sur un jeu de </a:t>
            </a:r>
            <a:r>
              <a:rPr lang="fr-FR" b="1" dirty="0"/>
              <a:t>15 questions représentatives</a:t>
            </a:r>
            <a:r>
              <a:rPr lang="fr-FR" dirty="0"/>
              <a:t>.</a:t>
            </a:r>
          </a:p>
          <a:p>
            <a:r>
              <a:rPr lang="fr-FR" dirty="0"/>
              <a:t>Création d’un jeu de tests annotés (</a:t>
            </a:r>
            <a:r>
              <a:rPr lang="fr-FR" dirty="0" err="1"/>
              <a:t>test_dataset.json</a:t>
            </a:r>
            <a:r>
              <a:rPr lang="fr-FR" dirty="0"/>
              <a:t>)</a:t>
            </a:r>
          </a:p>
          <a:p>
            <a:r>
              <a:rPr lang="fr-FR" dirty="0"/>
              <a:t>Métriques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err="1"/>
              <a:t>Answer</a:t>
            </a:r>
            <a:r>
              <a:rPr lang="fr-FR" sz="1800" dirty="0"/>
              <a:t> </a:t>
            </a:r>
            <a:r>
              <a:rPr lang="fr-FR" sz="1800" dirty="0" err="1"/>
              <a:t>Relevancy</a:t>
            </a:r>
            <a:r>
              <a:rPr lang="fr-FR" sz="1800" dirty="0"/>
              <a:t> </a:t>
            </a:r>
            <a:r>
              <a:rPr lang="fr-FR" sz="1800" dirty="0">
                <a:sym typeface="Wingdings" panose="05000000000000000000" pitchFamily="2" charset="2"/>
              </a:rPr>
              <a:t></a:t>
            </a:r>
            <a:r>
              <a:rPr lang="fr-FR" sz="1800" dirty="0"/>
              <a:t> La réponse répond-elle réellement à la question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err="1"/>
              <a:t>Faithfulness</a:t>
            </a:r>
            <a:r>
              <a:rPr lang="fr-FR" sz="1800" dirty="0"/>
              <a:t> </a:t>
            </a:r>
            <a:r>
              <a:rPr lang="fr-FR" sz="1800" dirty="0">
                <a:sym typeface="Wingdings" panose="05000000000000000000" pitchFamily="2" charset="2"/>
              </a:rPr>
              <a:t></a:t>
            </a:r>
            <a:r>
              <a:rPr lang="fr-FR" sz="1800" dirty="0"/>
              <a:t> La réponse est-elle fidèle aux informations récupérées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err="1"/>
              <a:t>Contextual</a:t>
            </a:r>
            <a:r>
              <a:rPr lang="fr-FR" sz="1800" dirty="0"/>
              <a:t> </a:t>
            </a:r>
            <a:r>
              <a:rPr lang="fr-FR" sz="1800" dirty="0" err="1"/>
              <a:t>Relevancy</a:t>
            </a:r>
            <a:r>
              <a:rPr lang="fr-FR" sz="1800" dirty="0"/>
              <a:t> </a:t>
            </a:r>
            <a:r>
              <a:rPr lang="fr-FR" sz="1800" dirty="0">
                <a:sym typeface="Wingdings" panose="05000000000000000000" pitchFamily="2" charset="2"/>
              </a:rPr>
              <a:t></a:t>
            </a:r>
            <a:r>
              <a:rPr lang="fr-FR" sz="1800" dirty="0"/>
              <a:t> Les documents récupérés sont-ils pertinents pour la question ?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74C783-A556-37AA-AB81-C90A00AA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65" y="4556276"/>
            <a:ext cx="4485919" cy="18983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A3997E-384C-F028-FF5D-8598C5B4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619" y="4556276"/>
            <a:ext cx="7023518" cy="197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5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F85A7-13C0-D258-ED53-DA6452FD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Conclusion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CC255A-6B6F-25EE-3351-B7802C05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0570" y="1905000"/>
            <a:ext cx="8915400" cy="27466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600" dirty="0"/>
              <a:t>Bilan du projet</a:t>
            </a:r>
          </a:p>
          <a:p>
            <a:pPr marL="0" indent="0">
              <a:buNone/>
            </a:pPr>
            <a:endParaRPr lang="fr-FR" sz="1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Système RAG fonctionnel de bout en bout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Recherche sémantique avec FAISS + embeddings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Génération des réponses avec Mistral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RAG exposé via une API FastAPI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Tests automatisés + validation fonctionnelle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Application conteneurisée avec Docker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440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33E4-AD98-43B5-2C00-0F137974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Questions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E57F3C-FF52-5521-1390-A5D31676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493178"/>
          </a:xfrm>
        </p:spPr>
        <p:txBody>
          <a:bodyPr/>
          <a:lstStyle/>
          <a:p>
            <a:pPr marL="0" indent="0">
              <a:buNone/>
            </a:pPr>
            <a:r>
              <a:rPr lang="fr-FR" sz="3200" b="1" dirty="0"/>
              <a:t>Merci pour votre attention</a:t>
            </a:r>
            <a:br>
              <a:rPr lang="fr-FR" sz="3200" dirty="0"/>
            </a:br>
            <a:r>
              <a:rPr lang="fr-FR" sz="3200" dirty="0"/>
              <a:t>Des questions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4852136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748</Words>
  <Application>Microsoft Office PowerPoint</Application>
  <PresentationFormat>Grand écran</PresentationFormat>
  <Paragraphs>134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3</vt:lpstr>
      <vt:lpstr>Brin</vt:lpstr>
      <vt:lpstr>Projet 7 : Concevez et déployez un système RAG</vt:lpstr>
      <vt:lpstr>Contexte et problématique </vt:lpstr>
      <vt:lpstr>Données utilisées</vt:lpstr>
      <vt:lpstr>Architecture technique</vt:lpstr>
      <vt:lpstr>Construction de la base vectorielle</vt:lpstr>
      <vt:lpstr>Fonctionnement du système RAG</vt:lpstr>
      <vt:lpstr>API</vt:lpstr>
      <vt:lpstr>Tests et validation</vt:lpstr>
      <vt:lpstr>Conteneurisation</vt:lpstr>
      <vt:lpstr>CI et qualité du projet</vt:lpstr>
      <vt:lpstr>Démonstration</vt:lpstr>
      <vt:lpstr>Évaluation du RAG avec DeepEval</vt:lpstr>
      <vt:lpstr>Conclusion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Birama Ndiaye</dc:creator>
  <cp:lastModifiedBy>Birama Ndiaye</cp:lastModifiedBy>
  <cp:revision>77</cp:revision>
  <dcterms:created xsi:type="dcterms:W3CDTF">2026-01-04T23:59:06Z</dcterms:created>
  <dcterms:modified xsi:type="dcterms:W3CDTF">2026-08-27T00:48:28Z</dcterms:modified>
</cp:coreProperties>
</file>