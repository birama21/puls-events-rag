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48" r:id="rId1"/>
  </p:sldMasterIdLst>
  <p:notesMasterIdLst>
    <p:notesMasterId r:id="rId15"/>
  </p:notesMasterIdLst>
  <p:sldIdLst>
    <p:sldId id="256" r:id="rId2"/>
    <p:sldId id="257" r:id="rId3"/>
    <p:sldId id="276" r:id="rId4"/>
    <p:sldId id="277" r:id="rId5"/>
    <p:sldId id="278" r:id="rId6"/>
    <p:sldId id="279" r:id="rId7"/>
    <p:sldId id="280" r:id="rId8"/>
    <p:sldId id="281" r:id="rId9"/>
    <p:sldId id="282" r:id="rId10"/>
    <p:sldId id="283" r:id="rId11"/>
    <p:sldId id="284" r:id="rId12"/>
    <p:sldId id="274" r:id="rId13"/>
    <p:sldId id="275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Style moyen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Style moyen 2 - Accentuation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Style moyen 2 - Accentuation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72833802-FEF1-4C79-8D5D-14CF1EAF98D9}" styleName="Style léger 2 - Accentuation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C083E6E3-FA7D-4D7B-A595-EF9225AFEA82}" styleName="Style léger 1 - Accentuation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3B4B98B0-60AC-42C2-AFA5-B58CD77FA1E5}" styleName="Style léger 1 - Accentuation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1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51466C-E689-4C50-B043-43C816FDE297}" type="datetimeFigureOut">
              <a:rPr lang="fr-FR" smtClean="0"/>
              <a:t>16/08/2026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ED44706-837C-4266-B150-1650A938DCC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554954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D44706-837C-4266-B150-1650A938DCC2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450137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05DB3-53C6-4905-B45A-5D8DEA6B3707}" type="datetimeFigureOut">
              <a:rPr lang="fr-FR" smtClean="0"/>
              <a:t>16/08/2026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9A44A8EC-D352-4C59-9BE2-9AFC1F8A22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252566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05DB3-53C6-4905-B45A-5D8DEA6B3707}" type="datetimeFigureOut">
              <a:rPr lang="fr-FR" smtClean="0"/>
              <a:t>16/08/2026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4A8EC-D352-4C59-9BE2-9AFC1F8A22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214582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05DB3-53C6-4905-B45A-5D8DEA6B3707}" type="datetimeFigureOut">
              <a:rPr lang="fr-FR" smtClean="0"/>
              <a:t>16/08/2026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9A44A8EC-D352-4C59-9BE2-9AFC1F8A22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327811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05DB3-53C6-4905-B45A-5D8DEA6B3707}" type="datetimeFigureOut">
              <a:rPr lang="fr-FR" smtClean="0"/>
              <a:t>16/08/2026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9A44A8EC-D352-4C59-9BE2-9AFC1F8A22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616528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05DB3-53C6-4905-B45A-5D8DEA6B3707}" type="datetimeFigureOut">
              <a:rPr lang="fr-FR" smtClean="0"/>
              <a:t>16/08/2026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9A44A8EC-D352-4C59-9BE2-9AFC1F8A22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895895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05DB3-53C6-4905-B45A-5D8DEA6B3707}" type="datetimeFigureOut">
              <a:rPr lang="fr-FR" smtClean="0"/>
              <a:t>16/08/2026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4A8EC-D352-4C59-9BE2-9AFC1F8A22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767396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05DB3-53C6-4905-B45A-5D8DEA6B3707}" type="datetimeFigureOut">
              <a:rPr lang="fr-FR" smtClean="0"/>
              <a:t>16/08/2026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4A8EC-D352-4C59-9BE2-9AFC1F8A22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244526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05DB3-53C6-4905-B45A-5D8DEA6B3707}" type="datetimeFigureOut">
              <a:rPr lang="fr-FR" smtClean="0"/>
              <a:t>16/08/2026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4A8EC-D352-4C59-9BE2-9AFC1F8A22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722778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05DB3-53C6-4905-B45A-5D8DEA6B3707}" type="datetimeFigureOut">
              <a:rPr lang="fr-FR" smtClean="0"/>
              <a:t>16/08/2026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9A44A8EC-D352-4C59-9BE2-9AFC1F8A22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056954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et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05DB3-53C6-4905-B45A-5D8DEA6B3707}" type="datetimeFigureOut">
              <a:rPr lang="fr-FR" smtClean="0"/>
              <a:t>16/08/2026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9A44A8EC-D352-4C59-9BE2-9AFC1F8A22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324697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ion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05DB3-53C6-4905-B45A-5D8DEA6B3707}" type="datetimeFigureOut">
              <a:rPr lang="fr-FR" smtClean="0"/>
              <a:t>16/08/2026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9A44A8EC-D352-4C59-9BE2-9AFC1F8A2269}" type="slidenum">
              <a:rPr lang="fr-FR" smtClean="0"/>
              <a:t>‹N°›</a:t>
            </a:fld>
            <a:endParaRPr lang="fr-FR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62968397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n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05DB3-53C6-4905-B45A-5D8DEA6B3707}" type="datetimeFigureOut">
              <a:rPr lang="fr-FR" smtClean="0"/>
              <a:t>16/08/2026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9A44A8EC-D352-4C59-9BE2-9AFC1F8A22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4647043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nom cit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05DB3-53C6-4905-B45A-5D8DEA6B3707}" type="datetimeFigureOut">
              <a:rPr lang="fr-FR" smtClean="0"/>
              <a:t>16/08/2026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9A44A8EC-D352-4C59-9BE2-9AFC1F8A2269}" type="slidenum">
              <a:rPr lang="fr-FR" smtClean="0"/>
              <a:t>‹N°›</a:t>
            </a:fld>
            <a:endParaRPr lang="fr-FR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07373556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rai ou fau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05DB3-53C6-4905-B45A-5D8DEA6B3707}" type="datetimeFigureOut">
              <a:rPr lang="fr-FR" smtClean="0"/>
              <a:t>16/08/2026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9A44A8EC-D352-4C59-9BE2-9AFC1F8A22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3061875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05DB3-53C6-4905-B45A-5D8DEA6B3707}" type="datetimeFigureOut">
              <a:rPr lang="fr-FR" smtClean="0"/>
              <a:t>16/08/2026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4A8EC-D352-4C59-9BE2-9AFC1F8A22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259088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05DB3-53C6-4905-B45A-5D8DEA6B3707}" type="datetimeFigureOut">
              <a:rPr lang="fr-FR" smtClean="0"/>
              <a:t>16/08/2026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4A8EC-D352-4C59-9BE2-9AFC1F8A22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21628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49000">
              <a:schemeClr val="bg1"/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lin ang="540000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27221" y="157"/>
            <a:ext cx="2356674" cy="6853096"/>
            <a:chOff x="6627813" y="195610"/>
            <a:chExt cx="1952625" cy="5678141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5610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8305DB3-53C6-4905-B45A-5D8DEA6B3707}" type="datetimeFigureOut">
              <a:rPr lang="fr-FR" smtClean="0"/>
              <a:t>16/08/2026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9A44A8EC-D352-4C59-9BE2-9AFC1F8A22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077814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49" r:id="rId1"/>
    <p:sldLayoutId id="2147483950" r:id="rId2"/>
    <p:sldLayoutId id="2147483951" r:id="rId3"/>
    <p:sldLayoutId id="2147483952" r:id="rId4"/>
    <p:sldLayoutId id="2147483953" r:id="rId5"/>
    <p:sldLayoutId id="2147483954" r:id="rId6"/>
    <p:sldLayoutId id="2147483955" r:id="rId7"/>
    <p:sldLayoutId id="2147483956" r:id="rId8"/>
    <p:sldLayoutId id="2147483957" r:id="rId9"/>
    <p:sldLayoutId id="2147483958" r:id="rId10"/>
    <p:sldLayoutId id="2147483959" r:id="rId11"/>
    <p:sldLayoutId id="2147483960" r:id="rId12"/>
    <p:sldLayoutId id="2147483961" r:id="rId13"/>
    <p:sldLayoutId id="2147483962" r:id="rId14"/>
    <p:sldLayoutId id="2147483963" r:id="rId15"/>
    <p:sldLayoutId id="2147483964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2">
              <a:lumMod val="7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958537E-405A-363F-BBB7-9695FA9E2F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43990" y="398428"/>
            <a:ext cx="9328810" cy="1389275"/>
          </a:xfrm>
        </p:spPr>
        <p:txBody>
          <a:bodyPr>
            <a:noAutofit/>
          </a:bodyPr>
          <a:lstStyle/>
          <a:p>
            <a:r>
              <a:rPr lang="fr-FR" sz="4000" b="1" dirty="0"/>
              <a:t>Projet 7 : Concevez et déployez un système RAG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A62E0B29-5CB1-623B-731C-3E2A0F2470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52215" y="2856217"/>
            <a:ext cx="8915399" cy="2106201"/>
          </a:xfrm>
        </p:spPr>
        <p:txBody>
          <a:bodyPr>
            <a:normAutofit fontScale="77500" lnSpcReduction="20000"/>
          </a:bodyPr>
          <a:lstStyle/>
          <a:p>
            <a:r>
              <a:rPr lang="fr-FR" sz="2200" b="1" dirty="0">
                <a:latin typeface="+mj-lt"/>
              </a:rPr>
              <a:t>NDIAYE Birama</a:t>
            </a:r>
          </a:p>
          <a:p>
            <a:r>
              <a:rPr lang="fr-FR" sz="2200" dirty="0">
                <a:latin typeface="+mj-lt"/>
              </a:rPr>
              <a:t>12/08/2026</a:t>
            </a:r>
          </a:p>
          <a:p>
            <a:endParaRPr lang="fr-FR" sz="2200" dirty="0">
              <a:latin typeface="+mj-lt"/>
            </a:endParaRPr>
          </a:p>
          <a:p>
            <a:pPr marL="342900" lvl="0" indent="-34290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Wingdings" panose="05000000000000000000" pitchFamily="2" charset="2"/>
              <a:buChar char="ü"/>
            </a:pPr>
            <a:r>
              <a:rPr lang="fr-FR" altLang="fr-FR" sz="2200" dirty="0">
                <a:solidFill>
                  <a:schemeClr val="tx1"/>
                </a:solidFill>
                <a:latin typeface="+mj-lt"/>
              </a:rPr>
              <a:t>Système de recherche intelligente d'événements</a:t>
            </a:r>
          </a:p>
          <a:p>
            <a:pPr marL="342900" lvl="0" indent="-34290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Wingdings" panose="05000000000000000000" pitchFamily="2" charset="2"/>
              <a:buChar char="ü"/>
            </a:pPr>
            <a:endParaRPr lang="fr-FR" altLang="fr-FR" sz="2200" dirty="0">
              <a:solidFill>
                <a:schemeClr val="tx1"/>
              </a:solidFill>
              <a:latin typeface="+mj-lt"/>
            </a:endParaRPr>
          </a:p>
          <a:p>
            <a:pPr marL="342900" lvl="0" indent="-34290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Wingdings" panose="05000000000000000000" pitchFamily="2" charset="2"/>
              <a:buChar char="ü"/>
            </a:pPr>
            <a:r>
              <a:rPr lang="fr-FR" altLang="fr-FR" sz="2200" dirty="0">
                <a:solidFill>
                  <a:schemeClr val="tx1"/>
                </a:solidFill>
                <a:latin typeface="+mj-lt"/>
              </a:rPr>
              <a:t>Assistant RAG basé sur les données Open Agenda.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endParaRPr lang="fr-FR" altLang="fr-FR" sz="2200" dirty="0">
              <a:solidFill>
                <a:schemeClr val="tx1"/>
              </a:solidFill>
              <a:latin typeface="+mj-lt"/>
            </a:endParaRPr>
          </a:p>
          <a:p>
            <a:pPr marL="342900" lvl="0" indent="-34290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Wingdings" panose="05000000000000000000" pitchFamily="2" charset="2"/>
              <a:buChar char="ü"/>
            </a:pPr>
            <a:r>
              <a:rPr lang="fr-FR" altLang="fr-FR" sz="2200" dirty="0">
                <a:solidFill>
                  <a:schemeClr val="tx1"/>
                </a:solidFill>
                <a:latin typeface="+mj-lt"/>
              </a:rPr>
              <a:t>Technologies principales : Python · LangChain · FAISS · Mistral · FastAPI · Docker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7263700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C5B450B-898C-B8E4-E662-EDE137899F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68786" y="448319"/>
            <a:ext cx="8911687" cy="1173868"/>
          </a:xfrm>
        </p:spPr>
        <p:txBody>
          <a:bodyPr>
            <a:normAutofit fontScale="90000"/>
          </a:bodyPr>
          <a:lstStyle/>
          <a:p>
            <a:r>
              <a:rPr lang="fr-FR" sz="4000" b="1" dirty="0"/>
              <a:t>Contexte</a:t>
            </a:r>
            <a:r>
              <a:rPr lang="fr-FR" b="1" dirty="0"/>
              <a:t> et problématique</a:t>
            </a:r>
            <a:br>
              <a:rPr lang="fr-FR" dirty="0"/>
            </a:b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382314D-7847-4BA1-8C93-AB6F24ACB2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45915" y="1379959"/>
            <a:ext cx="9840198" cy="476086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fr-FR" sz="1600" b="1" dirty="0"/>
              <a:t>Contexte</a:t>
            </a:r>
          </a:p>
          <a:p>
            <a:pPr marL="0" indent="0">
              <a:buNone/>
            </a:pPr>
            <a:r>
              <a:rPr lang="fr-FR" sz="1600" dirty="0"/>
              <a:t>Puls-Events souhaite intégrer un </a:t>
            </a:r>
            <a:r>
              <a:rPr lang="fr-FR" sz="1600" b="1" dirty="0"/>
              <a:t>chatbot intelligent</a:t>
            </a:r>
            <a:r>
              <a:rPr lang="fr-FR" sz="1600" dirty="0"/>
              <a:t> capable de répondre aux questions des utilisateurs sur les </a:t>
            </a:r>
            <a:r>
              <a:rPr lang="fr-FR" sz="1600" b="1" dirty="0"/>
              <a:t>événements culturels à venir</a:t>
            </a:r>
            <a:r>
              <a:rPr lang="fr-FR" sz="1600" dirty="0"/>
              <a:t>, à partir des données de l'</a:t>
            </a:r>
            <a:r>
              <a:rPr lang="fr-FR" sz="1600" b="1" dirty="0"/>
              <a:t>API Open Agenda</a:t>
            </a:r>
            <a:r>
              <a:rPr lang="fr-FR" sz="1600" dirty="0"/>
              <a:t>.</a:t>
            </a:r>
          </a:p>
          <a:p>
            <a:pPr marL="0" indent="0">
              <a:spcBef>
                <a:spcPts val="0"/>
              </a:spcBef>
              <a:buNone/>
            </a:pPr>
            <a:endParaRPr lang="fr-FR" sz="1600" dirty="0"/>
          </a:p>
          <a:p>
            <a:pPr marL="0" indent="0">
              <a:buNone/>
            </a:pPr>
            <a:r>
              <a:rPr lang="fr-FR" sz="1600" b="1" dirty="0"/>
              <a:t>Objectif du POC</a:t>
            </a:r>
            <a:endParaRPr lang="fr-FR" sz="1600" dirty="0"/>
          </a:p>
          <a:p>
            <a:pPr marL="0" indent="0">
              <a:buNone/>
            </a:pPr>
            <a:r>
              <a:rPr lang="fr-FR" sz="1600" dirty="0"/>
              <a:t>Développer une </a:t>
            </a:r>
            <a:r>
              <a:rPr lang="fr-FR" sz="1600" b="1" dirty="0"/>
              <a:t>version fonctionnelle d'un système RAG</a:t>
            </a:r>
            <a:r>
              <a:rPr lang="fr-FR" sz="1600" dirty="0"/>
              <a:t> permettant de :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fr-FR" dirty="0"/>
              <a:t>rechercher les événements pertinents ; 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fr-FR" dirty="0"/>
              <a:t>générer une réponse en langage naturel ; 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fr-FR" dirty="0"/>
              <a:t>exposer le système via une </a:t>
            </a:r>
            <a:r>
              <a:rPr lang="fr-FR" b="1" dirty="0"/>
              <a:t>API REST</a:t>
            </a:r>
            <a:r>
              <a:rPr lang="fr-FR" dirty="0"/>
              <a:t> ; 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fr-FR" dirty="0"/>
              <a:t>démontrer son fonctionnement lors d'une </a:t>
            </a:r>
            <a:r>
              <a:rPr lang="fr-FR" b="1" dirty="0"/>
              <a:t>démo live</a:t>
            </a:r>
            <a:r>
              <a:rPr lang="fr-FR" dirty="0"/>
              <a:t>. </a:t>
            </a:r>
          </a:p>
          <a:p>
            <a:pPr marL="457200" lvl="1" indent="0">
              <a:buNone/>
            </a:pPr>
            <a:endParaRPr lang="fr-FR" dirty="0"/>
          </a:p>
          <a:p>
            <a:pPr marL="0" indent="0">
              <a:buNone/>
            </a:pPr>
            <a:r>
              <a:rPr lang="fr-FR" sz="1600" b="1" dirty="0"/>
              <a:t>Périmètre</a:t>
            </a:r>
          </a:p>
          <a:p>
            <a:pPr marL="400050" lvl="1" indent="0">
              <a:buNone/>
            </a:pPr>
            <a:r>
              <a:rPr lang="fr-FR" dirty="0"/>
              <a:t>Zone étudiée : Métropole de Lyon</a:t>
            </a:r>
            <a:br>
              <a:rPr lang="fr-FR" dirty="0"/>
            </a:br>
            <a:r>
              <a:rPr lang="fr-FR" dirty="0"/>
              <a:t>Données : événements récents (&lt; 1 an)</a:t>
            </a:r>
          </a:p>
          <a:p>
            <a:pPr marL="0" indent="0">
              <a:buNone/>
            </a:pPr>
            <a:endParaRPr lang="fr-FR" sz="1400" dirty="0"/>
          </a:p>
        </p:txBody>
      </p:sp>
    </p:spTree>
    <p:extLst>
      <p:ext uri="{BB962C8B-B14F-4D97-AF65-F5344CB8AC3E}">
        <p14:creationId xmlns:p14="http://schemas.microsoft.com/office/powerpoint/2010/main" val="39334978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2179FC7-21B5-1A8D-1DF9-0B7EBBC3ED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693702"/>
          </a:xfrm>
        </p:spPr>
        <p:txBody>
          <a:bodyPr/>
          <a:lstStyle/>
          <a:p>
            <a:r>
              <a:rPr lang="fr-FR" dirty="0"/>
              <a:t>Données utilisées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AAA55DF-D780-925C-7B28-2EDE9ED3BD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08292" y="1455575"/>
            <a:ext cx="9626507" cy="5267954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fr-FR" sz="2000" b="1" dirty="0"/>
              <a:t>Source : Open Agenda (API)</a:t>
            </a:r>
          </a:p>
          <a:p>
            <a:pPr marL="0" indent="0">
              <a:buNone/>
            </a:pPr>
            <a:endParaRPr lang="fr-FR" sz="2000" dirty="0"/>
          </a:p>
          <a:p>
            <a:pPr marL="0" indent="0">
              <a:buNone/>
            </a:pPr>
            <a:r>
              <a:rPr lang="fr-FR" sz="2000" dirty="0"/>
              <a:t>Les données concernent les événements de la </a:t>
            </a:r>
            <a:r>
              <a:rPr lang="fr-FR" sz="2000" b="1" dirty="0"/>
              <a:t>Métropole de Lyon</a:t>
            </a:r>
            <a:r>
              <a:rPr lang="fr-FR" sz="2000" dirty="0"/>
              <a:t>.</a:t>
            </a:r>
          </a:p>
          <a:p>
            <a:pPr marL="0" indent="0">
              <a:buNone/>
            </a:pPr>
            <a:r>
              <a:rPr lang="fr-FR" sz="2000" dirty="0"/>
              <a:t>Les informations exploitées comprennent notamment :</a:t>
            </a:r>
          </a:p>
          <a:p>
            <a:pPr marL="0" indent="0">
              <a:buNone/>
            </a:pPr>
            <a:endParaRPr lang="fr-FR" sz="2000" dirty="0"/>
          </a:p>
          <a:p>
            <a:pPr lvl="1">
              <a:buFont typeface="Wingdings" panose="05000000000000000000" pitchFamily="2" charset="2"/>
              <a:buChar char="ü"/>
            </a:pPr>
            <a:r>
              <a:rPr lang="fr-FR" sz="2000" dirty="0"/>
              <a:t>Titre de l'événement 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fr-FR" sz="2000" dirty="0"/>
              <a:t>Description et description détaillée 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fr-FR" sz="2000" dirty="0"/>
              <a:t>Lieu et adresse 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fr-FR" sz="2000" dirty="0"/>
              <a:t>Date et horaires 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fr-FR" sz="2000" dirty="0"/>
              <a:t>Identifiant de l'événement </a:t>
            </a:r>
          </a:p>
          <a:p>
            <a:pPr marL="457200" lvl="1" indent="0">
              <a:buNone/>
            </a:pPr>
            <a:endParaRPr lang="fr-FR" sz="2000" dirty="0"/>
          </a:p>
          <a:p>
            <a:pPr marL="0" indent="0">
              <a:buNone/>
            </a:pPr>
            <a:r>
              <a:rPr lang="fr-FR" sz="2000" b="1" dirty="0"/>
              <a:t>Pré-</a:t>
            </a:r>
            <a:r>
              <a:rPr lang="fr-FR" sz="2000" b="1" dirty="0" err="1"/>
              <a:t>processing</a:t>
            </a:r>
            <a:r>
              <a:rPr lang="fr-FR" sz="2000" b="1" dirty="0"/>
              <a:t> :</a:t>
            </a:r>
          </a:p>
          <a:p>
            <a:pPr marL="0" indent="0">
              <a:buNone/>
            </a:pPr>
            <a:r>
              <a:rPr lang="fr-FR" sz="2000" dirty="0"/>
              <a:t>Open Agenda → Nettoyage → events.csv</a:t>
            </a:r>
          </a:p>
          <a:p>
            <a:pPr marL="0" indent="0">
              <a:buNone/>
            </a:pPr>
            <a:endParaRPr lang="fr-FR" sz="2000" dirty="0"/>
          </a:p>
          <a:p>
            <a:pPr marL="0" indent="0">
              <a:buNone/>
            </a:pPr>
            <a:r>
              <a:rPr lang="fr-FR" sz="2000" b="1" dirty="0"/>
              <a:t>Objectif :</a:t>
            </a:r>
            <a:r>
              <a:rPr lang="fr-FR" sz="2000" dirty="0"/>
              <a:t> obtenir des données propres et structurées avant leur utilisation par le système RAG</a:t>
            </a:r>
            <a:r>
              <a:rPr lang="fr-F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902063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5FC152A-4602-7EA2-397C-6AF9E2FCA2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Architecture technique</a:t>
            </a:r>
          </a:p>
        </p:txBody>
      </p:sp>
      <p:sp>
        <p:nvSpPr>
          <p:cNvPr id="7" name="Espace réservé du contenu 6">
            <a:extLst>
              <a:ext uri="{FF2B5EF4-FFF2-40B4-BE49-F238E27FC236}">
                <a16:creationId xmlns:a16="http://schemas.microsoft.com/office/drawing/2014/main" id="{2FC996DB-036E-BD72-5A88-037C1471E8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14085" y="5212486"/>
            <a:ext cx="8915400" cy="944774"/>
          </a:xfrm>
        </p:spPr>
        <p:txBody>
          <a:bodyPr/>
          <a:lstStyle/>
          <a:p>
            <a:r>
              <a:rPr lang="fr-FR" dirty="0"/>
              <a:t>Le système combine une recherche sémantique avec FAISS et une génération de réponse avec Mistral, orchestrées par LangChain et exposées via FastAPI.</a:t>
            </a:r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1CA56A26-6CCF-038F-C827-310690CB44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388" y="1571741"/>
            <a:ext cx="10951711" cy="3381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17508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8A9A40-D9B4-7B32-EAD4-552372A902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Construction de la base vectorielle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3C3E262-6459-674D-929F-FA30F45909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55494" y="1459506"/>
            <a:ext cx="8915400" cy="5111623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fr-FR" sz="1500" dirty="0"/>
              <a:t>Pour permettre une recherche par </a:t>
            </a:r>
            <a:r>
              <a:rPr lang="fr-FR" sz="1500" b="1" dirty="0"/>
              <a:t>sens</a:t>
            </a:r>
            <a:r>
              <a:rPr lang="fr-FR" sz="1500" dirty="0"/>
              <a:t> et non uniquement par mots-clés :</a:t>
            </a:r>
          </a:p>
          <a:p>
            <a:pPr marL="0" indent="0">
              <a:buNone/>
            </a:pPr>
            <a:endParaRPr lang="fr-FR" sz="1500" dirty="0"/>
          </a:p>
          <a:p>
            <a:pPr lvl="1">
              <a:buFont typeface="Wingdings" panose="05000000000000000000" pitchFamily="2" charset="2"/>
              <a:buChar char="Ø"/>
            </a:pPr>
            <a:r>
              <a:rPr lang="fr-FR" sz="1500" dirty="0"/>
              <a:t>Les événements sont transformés en documents LangChain. 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fr-FR" sz="1500" dirty="0"/>
              <a:t>Les documents sont découpés en </a:t>
            </a:r>
            <a:r>
              <a:rPr lang="fr-FR" sz="1500" dirty="0" err="1"/>
              <a:t>chunks</a:t>
            </a:r>
            <a:r>
              <a:rPr lang="fr-FR" sz="1500" dirty="0"/>
              <a:t>. 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fr-FR" sz="1500" dirty="0"/>
              <a:t>Chaque </a:t>
            </a:r>
            <a:r>
              <a:rPr lang="fr-FR" sz="1500" dirty="0" err="1"/>
              <a:t>chunk</a:t>
            </a:r>
            <a:r>
              <a:rPr lang="fr-FR" sz="1500" dirty="0"/>
              <a:t> est transformé en </a:t>
            </a:r>
            <a:r>
              <a:rPr lang="fr-FR" sz="1500" b="1" dirty="0" err="1"/>
              <a:t>embedding</a:t>
            </a:r>
            <a:r>
              <a:rPr lang="fr-FR" sz="1500" dirty="0"/>
              <a:t>. 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fr-FR" sz="1500" dirty="0"/>
              <a:t>Les embeddings sont indexés avec </a:t>
            </a:r>
            <a:r>
              <a:rPr lang="fr-FR" sz="1500" b="1" dirty="0"/>
              <a:t>FAISS</a:t>
            </a:r>
            <a:r>
              <a:rPr lang="fr-FR" sz="1500" dirty="0"/>
              <a:t>.</a:t>
            </a:r>
          </a:p>
          <a:p>
            <a:pPr marL="0" indent="0">
              <a:buNone/>
            </a:pPr>
            <a:endParaRPr lang="fr-FR" sz="1500" dirty="0"/>
          </a:p>
          <a:p>
            <a:pPr marL="0" indent="0">
              <a:buNone/>
            </a:pPr>
            <a:r>
              <a:rPr lang="fr-FR" sz="1500" b="1" dirty="0"/>
              <a:t>Modèle utilisé</a:t>
            </a:r>
          </a:p>
          <a:p>
            <a:pPr marL="0" indent="0">
              <a:buNone/>
            </a:pPr>
            <a:r>
              <a:rPr lang="fr-FR" sz="1500" dirty="0"/>
              <a:t>	sentence-</a:t>
            </a:r>
            <a:r>
              <a:rPr lang="fr-FR" sz="1500" dirty="0" err="1"/>
              <a:t>transformers</a:t>
            </a:r>
            <a:r>
              <a:rPr lang="fr-FR" sz="1500" dirty="0"/>
              <a:t>/all-MiniLM-L6-v2</a:t>
            </a:r>
          </a:p>
          <a:p>
            <a:pPr marL="0" indent="0">
              <a:buNone/>
            </a:pPr>
            <a:endParaRPr lang="fr-FR" sz="1500" dirty="0"/>
          </a:p>
          <a:p>
            <a:pPr marL="0" indent="0">
              <a:buNone/>
            </a:pPr>
            <a:r>
              <a:rPr lang="fr-FR" sz="1500" b="1" dirty="0"/>
              <a:t>Paramètres de découpage</a:t>
            </a:r>
          </a:p>
          <a:p>
            <a:pPr marL="457200" lvl="1" indent="0">
              <a:buNone/>
            </a:pPr>
            <a:r>
              <a:rPr lang="fr-FR" sz="1500" dirty="0" err="1"/>
              <a:t>chunk_size</a:t>
            </a:r>
            <a:r>
              <a:rPr lang="fr-FR" sz="1500" dirty="0"/>
              <a:t> = 1000 </a:t>
            </a:r>
          </a:p>
          <a:p>
            <a:pPr marL="457200" lvl="1" indent="0">
              <a:buNone/>
            </a:pPr>
            <a:r>
              <a:rPr lang="fr-FR" sz="1500" dirty="0" err="1"/>
              <a:t>chunk_overlap</a:t>
            </a:r>
            <a:r>
              <a:rPr lang="fr-FR" sz="1500" dirty="0"/>
              <a:t> = 200</a:t>
            </a:r>
          </a:p>
          <a:p>
            <a:pPr marL="457200" lvl="1" indent="0">
              <a:buNone/>
            </a:pPr>
            <a:endParaRPr lang="fr-FR" sz="1500" dirty="0"/>
          </a:p>
          <a:p>
            <a:pPr marL="0" indent="0">
              <a:buNone/>
            </a:pPr>
            <a:r>
              <a:rPr lang="fr-FR" sz="1500" b="1" dirty="0"/>
              <a:t>Résultat :</a:t>
            </a:r>
            <a:endParaRPr lang="fr-FR" sz="1500" dirty="0"/>
          </a:p>
          <a:p>
            <a:pPr marL="400050" lvl="1" indent="0">
              <a:buNone/>
            </a:pPr>
            <a:r>
              <a:rPr lang="fr-FR" sz="1500" dirty="0"/>
              <a:t>Une base vectorielle locale permettant de retrouver rapidement les événements sémantiquement proches d'une question.</a:t>
            </a:r>
          </a:p>
          <a:p>
            <a:pPr marL="457200" lvl="1" indent="0">
              <a:buNone/>
            </a:pPr>
            <a:endParaRPr lang="fr-FR" dirty="0"/>
          </a:p>
          <a:p>
            <a:pPr marL="457200" lvl="1" indent="0">
              <a:buNone/>
            </a:pPr>
            <a:endParaRPr lang="fr-FR" dirty="0"/>
          </a:p>
          <a:p>
            <a:pPr marL="0" indent="0">
              <a:buNone/>
            </a:pP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3420129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7917A54-531F-E09A-2803-7ECA11D3CD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Fonctionnement du système RAG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DF66EE1-B07C-9A47-C0B5-626069149D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92742" y="1540188"/>
            <a:ext cx="9297988" cy="4941293"/>
          </a:xfrm>
        </p:spPr>
        <p:txBody>
          <a:bodyPr>
            <a:normAutofit lnSpcReduction="10000"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fr-FR" dirty="0"/>
              <a:t>L'utilisateur pose une question en langage naturel.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fr-FR" dirty="0"/>
              <a:t>Le Retriever recherche les documents les plus pertinents dans FAISS.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fr-FR" dirty="0"/>
              <a:t>Les documents récupérés constituent le contexte transmis au modèle.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fr-FR" dirty="0"/>
              <a:t>LangChain orchestre les différentes étapes du pipeline RAG.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fr-FR" dirty="0"/>
              <a:t>Mistral génère une réponse à partir du contexte récupéré.</a:t>
            </a:r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r>
              <a:rPr lang="fr-FR" b="1" dirty="0"/>
              <a:t>Rôles des principales briques</a:t>
            </a:r>
          </a:p>
          <a:p>
            <a:pPr marL="0" indent="0">
              <a:buNone/>
            </a:pPr>
            <a:endParaRPr lang="fr-FR" b="1" dirty="0"/>
          </a:p>
          <a:p>
            <a:r>
              <a:rPr lang="fr-FR" b="1" dirty="0"/>
              <a:t>FAISS</a:t>
            </a:r>
            <a:br>
              <a:rPr lang="fr-FR" dirty="0"/>
            </a:br>
            <a:r>
              <a:rPr lang="fr-FR" dirty="0"/>
              <a:t>→ recherche les informations pertinentes.</a:t>
            </a:r>
          </a:p>
          <a:p>
            <a:r>
              <a:rPr lang="fr-FR" b="1" dirty="0"/>
              <a:t>LangChain</a:t>
            </a:r>
            <a:br>
              <a:rPr lang="fr-FR" dirty="0"/>
            </a:br>
            <a:r>
              <a:rPr lang="fr-FR" dirty="0"/>
              <a:t>→ orchestre le pipeline RAG.</a:t>
            </a:r>
          </a:p>
          <a:p>
            <a:r>
              <a:rPr lang="fr-FR" b="1" dirty="0"/>
              <a:t>Mistral</a:t>
            </a:r>
            <a:br>
              <a:rPr lang="fr-FR" dirty="0"/>
            </a:br>
            <a:r>
              <a:rPr lang="fr-FR" dirty="0"/>
              <a:t>→ génère la réponse à partir du contexte récupéré.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83582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7D786F6-E476-6A45-1A33-7F2661F2C8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API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108E6EA-055A-EF94-E2E4-00D875B886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66482" y="1540189"/>
            <a:ext cx="8915400" cy="3777622"/>
          </a:xfrm>
        </p:spPr>
        <p:txBody>
          <a:bodyPr/>
          <a:lstStyle/>
          <a:p>
            <a:r>
              <a:rPr lang="fr-FR" dirty="0"/>
              <a:t>Exposition du RAG avec FastAPI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09B41185-DC6D-75E6-DC62-0B6C267A44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6482" y="2026138"/>
            <a:ext cx="8503641" cy="4347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12294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CE2E89D-E179-E1B2-34D0-71E43C356F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Tests et validation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112844A-A879-B79D-0C6D-36FD125F45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38693" y="1389528"/>
            <a:ext cx="8360382" cy="5226424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fr-FR" sz="1500" dirty="0"/>
              <a:t>Tests automatisés (CI/CD) </a:t>
            </a:r>
          </a:p>
          <a:p>
            <a:pPr marL="800100" lvl="2" indent="0">
              <a:buNone/>
            </a:pPr>
            <a:r>
              <a:rPr lang="fr-FR" b="1" dirty="0"/>
              <a:t>test_api.py</a:t>
            </a:r>
            <a:r>
              <a:rPr lang="fr-FR" dirty="0"/>
              <a:t> → validation de l'API. </a:t>
            </a:r>
          </a:p>
          <a:p>
            <a:pPr marL="800100" lvl="2" indent="0">
              <a:buNone/>
            </a:pPr>
            <a:r>
              <a:rPr lang="fr-FR" b="1" dirty="0"/>
              <a:t>test_rag.py</a:t>
            </a:r>
            <a:r>
              <a:rPr lang="fr-FR" dirty="0"/>
              <a:t> → validation du fonctionnement du RAG. </a:t>
            </a:r>
          </a:p>
          <a:p>
            <a:pPr marL="800100" lvl="2" indent="0">
              <a:buNone/>
            </a:pPr>
            <a:r>
              <a:rPr lang="fr-FR" b="1" dirty="0"/>
              <a:t>test_vectorstore.py</a:t>
            </a:r>
            <a:r>
              <a:rPr lang="fr-FR" dirty="0"/>
              <a:t> → validation de la base vectorielle.</a:t>
            </a:r>
          </a:p>
          <a:p>
            <a:pPr marL="400050" lvl="1" indent="0">
              <a:buNone/>
            </a:pPr>
            <a:endParaRPr lang="fr-FR" sz="1500" dirty="0"/>
          </a:p>
          <a:p>
            <a:pPr>
              <a:buFont typeface="Arial" panose="020B0604020202020204" pitchFamily="34" charset="0"/>
              <a:buChar char="•"/>
            </a:pPr>
            <a:r>
              <a:rPr lang="fr-FR" sz="1500" dirty="0"/>
              <a:t>Tests fonctionnels </a:t>
            </a:r>
            <a:endParaRPr lang="fr-FR" sz="1500" b="1" dirty="0"/>
          </a:p>
          <a:p>
            <a:pPr marL="0" indent="0">
              <a:buNone/>
            </a:pPr>
            <a:r>
              <a:rPr lang="fr-FR" sz="1500" b="1" dirty="0"/>
              <a:t>		scripts/evaluate_rag.py</a:t>
            </a:r>
            <a:endParaRPr lang="fr-FR" sz="1500" dirty="0"/>
          </a:p>
          <a:p>
            <a:pPr marL="0" indent="0">
              <a:buNone/>
            </a:pPr>
            <a:r>
              <a:rPr lang="fr-FR" sz="1500" dirty="0"/>
              <a:t>	Plusieurs questions réalistes sont exécutées de bout en bout afin de vérifier :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fr-FR" sz="1500" dirty="0"/>
              <a:t>la pertinence des documents récupérés ; 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fr-FR" sz="1500" dirty="0"/>
              <a:t>la qualité des réponses ; 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fr-FR" sz="1500" dirty="0"/>
              <a:t>le comportement lorsqu'une information n'est pas présente dans la base.</a:t>
            </a:r>
          </a:p>
          <a:p>
            <a:pPr marL="457200" lvl="1" indent="0">
              <a:buNone/>
            </a:pPr>
            <a:endParaRPr lang="fr-FR" dirty="0"/>
          </a:p>
          <a:p>
            <a:pPr marL="0" indent="0">
              <a:buNone/>
            </a:pPr>
            <a:r>
              <a:rPr lang="fr-FR" sz="1400" dirty="0"/>
              <a:t>Ragas </a:t>
            </a:r>
            <a:r>
              <a:rPr lang="fr-FR" sz="1400" dirty="0">
                <a:sym typeface="Wingdings" panose="05000000000000000000" pitchFamily="2" charset="2"/>
              </a:rPr>
              <a:t> </a:t>
            </a:r>
            <a:r>
              <a:rPr lang="fr-FR" sz="1400" dirty="0"/>
              <a:t>problèmes de compatibilités avec dépendances LangChain 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5CCC1C18-CA7D-2E23-9824-737156B453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7287" y="1667435"/>
            <a:ext cx="4493546" cy="1280890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836ECE7E-F626-F93A-16B3-69706CD948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04979" y="4637388"/>
            <a:ext cx="3225854" cy="1553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43092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D850740-3C35-405C-A1FE-34679C1425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Conteneurisation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3BEE4BC-17CD-4AC4-AFE5-3FE8731E34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70647" y="1540189"/>
            <a:ext cx="8915400" cy="377762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sz="1700" dirty="0"/>
              <a:t>L'application a été conteneurisée afin de rendre son exécution </a:t>
            </a:r>
            <a:r>
              <a:rPr lang="fr-FR" sz="1700" b="1" dirty="0"/>
              <a:t>reproductible et indépendante de l'environnement local</a:t>
            </a:r>
            <a:r>
              <a:rPr lang="fr-FR" sz="1700" dirty="0"/>
              <a:t>.</a:t>
            </a:r>
          </a:p>
          <a:p>
            <a:pPr marL="0" indent="0">
              <a:buNone/>
            </a:pPr>
            <a:endParaRPr lang="fr-FR" sz="1700" b="1" dirty="0"/>
          </a:p>
          <a:p>
            <a:pPr marL="0" indent="0">
              <a:buNone/>
            </a:pPr>
            <a:r>
              <a:rPr lang="fr-FR" sz="1700" b="1" dirty="0"/>
              <a:t>Docker permet de regrouper :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fr-FR" sz="1700" dirty="0"/>
              <a:t>Environnement Python 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fr-FR" sz="1700" dirty="0"/>
              <a:t>Dépendances 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fr-FR" sz="1700" dirty="0"/>
              <a:t>Code de l'application 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fr-FR" sz="1700" dirty="0"/>
              <a:t>Configuration d'exécution</a:t>
            </a:r>
          </a:p>
          <a:p>
            <a:pPr marL="57150" indent="0">
              <a:buNone/>
            </a:pPr>
            <a:endParaRPr lang="fr-FR" sz="1700" dirty="0"/>
          </a:p>
          <a:p>
            <a:pPr marL="57150" indent="0">
              <a:buNone/>
            </a:pPr>
            <a:r>
              <a:rPr lang="fr-FR" sz="1700" dirty="0"/>
              <a:t>L'application a été testée avec succès depuis le conteneur via Swagger.</a:t>
            </a:r>
          </a:p>
          <a:p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CDEABF5A-10B6-BFA2-9504-487149E0B3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925" y="5460600"/>
            <a:ext cx="5835950" cy="1028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71092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12CC093-8128-85FE-D13A-93550161A0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CI et qualité du projet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3422332-2210-FF6C-9437-D199C38B11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6177" y="1558118"/>
            <a:ext cx="8915400" cy="477992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dirty="0"/>
              <a:t>Le projet dispose également d'une CI GitHub Actions.</a:t>
            </a:r>
          </a:p>
          <a:p>
            <a:pPr marL="0" indent="0">
              <a:buNone/>
            </a:pPr>
            <a:r>
              <a:rPr lang="fr-FR" dirty="0"/>
              <a:t>À chaque modification, la CI permet de vérifier automatiquement le projet.</a:t>
            </a:r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r>
              <a:rPr lang="fr-FR" dirty="0"/>
              <a:t>Objectifs</a:t>
            </a:r>
          </a:p>
          <a:p>
            <a:pPr marL="685800" lvl="1">
              <a:buFont typeface="Wingdings" panose="05000000000000000000" pitchFamily="2" charset="2"/>
              <a:buChar char="Ø"/>
            </a:pPr>
            <a:r>
              <a:rPr lang="fr-FR" sz="1800" dirty="0"/>
              <a:t>Détecter rapidement les régressions. </a:t>
            </a:r>
          </a:p>
          <a:p>
            <a:pPr marL="685800" lvl="1">
              <a:buFont typeface="Wingdings" panose="05000000000000000000" pitchFamily="2" charset="2"/>
              <a:buChar char="Ø"/>
            </a:pPr>
            <a:r>
              <a:rPr lang="fr-FR" sz="1800" dirty="0"/>
              <a:t>Vérifier que les tests passent. </a:t>
            </a:r>
          </a:p>
          <a:p>
            <a:pPr marL="685800" lvl="1">
              <a:buFont typeface="Wingdings" panose="05000000000000000000" pitchFamily="2" charset="2"/>
              <a:buChar char="Ø"/>
            </a:pPr>
            <a:r>
              <a:rPr lang="fr-FR" sz="1800" dirty="0"/>
              <a:t>Maintenir un environnement reproductible. </a:t>
            </a:r>
          </a:p>
          <a:p>
            <a:pPr marL="685800" lvl="1">
              <a:buFont typeface="Wingdings" panose="05000000000000000000" pitchFamily="2" charset="2"/>
              <a:buChar char="Ø"/>
            </a:pPr>
            <a:r>
              <a:rPr lang="fr-FR" sz="1800" dirty="0"/>
              <a:t>Sécuriser les évolutions du projet. 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A5EE957-595C-DF15-C207-E69E84A56C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6425" y="2646450"/>
            <a:ext cx="4311988" cy="1938417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D9400370-AC14-1DAA-79AB-8FEFBD56ED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6425" y="4701987"/>
            <a:ext cx="4154188" cy="1753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22819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B81EA7C-95FD-0122-0674-5F5CF70F5A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Démonstration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D3B13B0-F764-F930-44E2-3BC17AA1A6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51330" y="1622610"/>
            <a:ext cx="7547745" cy="3330391"/>
          </a:xfrm>
        </p:spPr>
        <p:txBody>
          <a:bodyPr/>
          <a:lstStyle/>
          <a:p>
            <a:pPr marL="0" indent="0">
              <a:buNone/>
            </a:pPr>
            <a:r>
              <a:rPr lang="fr-FR" dirty="0"/>
              <a:t>Scénario 1</a:t>
            </a:r>
          </a:p>
          <a:p>
            <a:pPr marL="400050" lvl="1" indent="0">
              <a:buNone/>
            </a:pPr>
            <a:r>
              <a:rPr lang="fr-FR" dirty="0"/>
              <a:t>« Je cherche une exposition à Lyon. »</a:t>
            </a:r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r>
              <a:rPr lang="fr-FR" dirty="0"/>
              <a:t>Scénario 2</a:t>
            </a:r>
          </a:p>
          <a:p>
            <a:pPr marL="400050" lvl="1" indent="0">
              <a:buNone/>
            </a:pPr>
            <a:r>
              <a:rPr lang="fr-FR" dirty="0"/>
              <a:t>« Quels événements liés au patrimoine ont lieu à Villeurbanne ? »</a:t>
            </a:r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r>
              <a:rPr lang="fr-FR" dirty="0"/>
              <a:t>Scénario 3</a:t>
            </a:r>
          </a:p>
          <a:p>
            <a:pPr marL="400050" lvl="1" indent="0">
              <a:buNone/>
            </a:pPr>
            <a:r>
              <a:rPr lang="fr-FR" dirty="0"/>
              <a:t>« Je cherche une activité pour les enfants. »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9702485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75F85A7-13C0-D258-ED53-DA6452FD8A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/>
              <a:t>Conclusion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2CC255A-6B6F-25EE-3351-B7802C0535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90570" y="1905000"/>
            <a:ext cx="8915400" cy="2746624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fr-FR" sz="1600" dirty="0"/>
              <a:t>Bilan du projet</a:t>
            </a:r>
          </a:p>
          <a:p>
            <a:pPr marL="0" indent="0">
              <a:buNone/>
            </a:pPr>
            <a:endParaRPr lang="fr-FR" sz="1600" dirty="0"/>
          </a:p>
          <a:p>
            <a:pPr lvl="1">
              <a:buFont typeface="Wingdings" panose="05000000000000000000" pitchFamily="2" charset="2"/>
              <a:buChar char="ü"/>
            </a:pPr>
            <a:r>
              <a:rPr lang="fr-FR" dirty="0"/>
              <a:t> Système RAG fonctionnel de bout en bout 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fr-FR" dirty="0"/>
              <a:t> Recherche sémantique avec FAISS + embeddings 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fr-FR" dirty="0"/>
              <a:t> Génération des réponses avec Mistral 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fr-FR" dirty="0"/>
              <a:t> RAG exposé via une API FastAPI 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fr-FR" dirty="0"/>
              <a:t> Tests automatisés + validation fonctionnelle 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fr-FR" dirty="0"/>
              <a:t> Application conteneurisée avec Docker</a:t>
            </a:r>
          </a:p>
          <a:p>
            <a:pPr marL="0" indent="0">
              <a:buNone/>
            </a:pP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9744067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81333E4-AD98-43B5-2C00-0F13797489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/>
              <a:t>Questions 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6E57F3C-FF52-5521-1390-A5D3167640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1493178"/>
          </a:xfrm>
        </p:spPr>
        <p:txBody>
          <a:bodyPr/>
          <a:lstStyle/>
          <a:p>
            <a:pPr marL="0" indent="0">
              <a:buNone/>
            </a:pPr>
            <a:r>
              <a:rPr lang="fr-FR" sz="3200" b="1" dirty="0"/>
              <a:t>Merci pour votre attention</a:t>
            </a:r>
            <a:br>
              <a:rPr lang="fr-FR" sz="3200" dirty="0"/>
            </a:br>
            <a:r>
              <a:rPr lang="fr-FR" sz="3200" dirty="0"/>
              <a:t>Des questions ?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934852136"/>
      </p:ext>
    </p:extLst>
  </p:cSld>
  <p:clrMapOvr>
    <a:masterClrMapping/>
  </p:clrMapOvr>
</p:sld>
</file>

<file path=ppt/theme/theme1.xml><?xml version="1.0" encoding="utf-8"?>
<a:theme xmlns:a="http://schemas.openxmlformats.org/drawingml/2006/main" name="Brin">
  <a:themeElements>
    <a:clrScheme name="Brin">
      <a:dk1>
        <a:sysClr val="windowText" lastClr="000000"/>
      </a:dk1>
      <a:lt1>
        <a:sysClr val="window" lastClr="FFFFFF"/>
      </a:lt1>
      <a:dk2>
        <a:srgbClr val="2E5369"/>
      </a:dk2>
      <a:lt2>
        <a:srgbClr val="CFE2E7"/>
      </a:lt2>
      <a:accent1>
        <a:srgbClr val="353535"/>
      </a:accent1>
      <a:accent2>
        <a:srgbClr val="31B4E6"/>
      </a:accent2>
      <a:accent3>
        <a:srgbClr val="265991"/>
      </a:accent3>
      <a:accent4>
        <a:srgbClr val="7E40CC"/>
      </a:accent4>
      <a:accent5>
        <a:srgbClr val="B927E9"/>
      </a:accent5>
      <a:accent6>
        <a:srgbClr val="E833BF"/>
      </a:accent6>
      <a:hlink>
        <a:srgbClr val="2DA0F1"/>
      </a:hlink>
      <a:folHlink>
        <a:srgbClr val="7ED1E6"/>
      </a:folHlink>
    </a:clrScheme>
    <a:fontScheme name="Brin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Brin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4F34B87B-9C7A-41AE-A6CB-48536223DFFD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0</TotalTime>
  <Words>679</Words>
  <Application>Microsoft Office PowerPoint</Application>
  <PresentationFormat>Grand écran</PresentationFormat>
  <Paragraphs>127</Paragraphs>
  <Slides>13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13</vt:i4>
      </vt:variant>
    </vt:vector>
  </HeadingPairs>
  <TitlesOfParts>
    <vt:vector size="19" baseType="lpstr">
      <vt:lpstr>Arial</vt:lpstr>
      <vt:lpstr>Calibri</vt:lpstr>
      <vt:lpstr>Century Gothic</vt:lpstr>
      <vt:lpstr>Wingdings</vt:lpstr>
      <vt:lpstr>Wingdings 3</vt:lpstr>
      <vt:lpstr>Brin</vt:lpstr>
      <vt:lpstr>Projet 7 : Concevez et déployez un système RAG</vt:lpstr>
      <vt:lpstr>Contexte et problématique </vt:lpstr>
      <vt:lpstr>Données utilisées</vt:lpstr>
      <vt:lpstr>Architecture technique</vt:lpstr>
      <vt:lpstr>Construction de la base vectorielle</vt:lpstr>
      <vt:lpstr>Fonctionnement du système RAG</vt:lpstr>
      <vt:lpstr>API</vt:lpstr>
      <vt:lpstr>Tests et validation</vt:lpstr>
      <vt:lpstr>Conteneurisation</vt:lpstr>
      <vt:lpstr>CI et qualité du projet</vt:lpstr>
      <vt:lpstr>Démonstration</vt:lpstr>
      <vt:lpstr>Conclusion</vt:lpstr>
      <vt:lpstr>Questions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Birama Ndiaye</dc:creator>
  <cp:lastModifiedBy>Birama Ndiaye</cp:lastModifiedBy>
  <cp:revision>74</cp:revision>
  <dcterms:created xsi:type="dcterms:W3CDTF">2026-01-04T23:59:06Z</dcterms:created>
  <dcterms:modified xsi:type="dcterms:W3CDTF">2026-08-16T18:45:12Z</dcterms:modified>
</cp:coreProperties>
</file>